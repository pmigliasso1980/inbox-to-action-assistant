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12500d084433b" /><Relationship Type="http://schemas.openxmlformats.org/officeDocument/2006/relationships/extended-properties" Target="/docProps/app.xml" Id="R84cb1f93ea454c1a" /><Relationship Type="http://schemas.openxmlformats.org/officeDocument/2006/relationships/officeDocument" Target="/ppt/presentation.xml" Id="R5f1daca480d148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28ec666286431f"/>
  </p:sldMasterIdLst>
  <p:notesMasterIdLst>
    <p:notesMasterId xmlns:r="http://schemas.openxmlformats.org/officeDocument/2006/relationships" r:id="R04cb8da3c4b54cce"/>
  </p:notesMasterIdLst>
  <p:sldIdLst>
    <p:sldId xmlns:r="http://schemas.openxmlformats.org/officeDocument/2006/relationships" id="256" r:id="R0b8e83ee8dc14f89"/>
    <p:sldId xmlns:r="http://schemas.openxmlformats.org/officeDocument/2006/relationships" id="257" r:id="R49e7b89c26dd4090"/>
    <p:sldId xmlns:r="http://schemas.openxmlformats.org/officeDocument/2006/relationships" id="258" r:id="R461927ba8c16425e"/>
    <p:sldId xmlns:r="http://schemas.openxmlformats.org/officeDocument/2006/relationships" id="259" r:id="Rdf56a9b01e38408e"/>
    <p:sldId xmlns:r="http://schemas.openxmlformats.org/officeDocument/2006/relationships" id="260" r:id="Rdd4b7199cae34c3e"/>
    <p:sldId xmlns:r="http://schemas.openxmlformats.org/officeDocument/2006/relationships" id="261" r:id="Rc23bdeeebbc44dd7"/>
    <p:sldId xmlns:r="http://schemas.openxmlformats.org/officeDocument/2006/relationships" id="262" r:id="R583c5a200b7849a8"/>
    <p:sldId xmlns:r="http://schemas.openxmlformats.org/officeDocument/2006/relationships" id="263" r:id="Rcef2c5bee6e34acd"/>
    <p:sldId xmlns:r="http://schemas.openxmlformats.org/officeDocument/2006/relationships" id="264" r:id="R0004f9815eec49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e7e58bb664356" /><Relationship Type="http://schemas.openxmlformats.org/officeDocument/2006/relationships/slideMaster" Target="/ppt/slideMasters/slideMaster1.xml" Id="R0428ec666286431f" /><Relationship Type="http://schemas.openxmlformats.org/officeDocument/2006/relationships/notesMaster" Target="/ppt/notesMasters/notesMaster1.xml" Id="R04cb8da3c4b54cce" /><Relationship Type="http://schemas.openxmlformats.org/officeDocument/2006/relationships/presProps" Target="/ppt/presProps.xml" Id="R27ffda28f56846e9" /><Relationship Type="http://schemas.openxmlformats.org/officeDocument/2006/relationships/tableStyles" Target="/ppt/tableStyles.xml" Id="Ra9629d37451549d0" /><Relationship Type="http://schemas.openxmlformats.org/officeDocument/2006/relationships/slide" Target="/ppt/slides/slide1.xml" Id="R0b8e83ee8dc14f89" /><Relationship Type="http://schemas.openxmlformats.org/officeDocument/2006/relationships/slide" Target="/ppt/slides/slide2.xml" Id="R49e7b89c26dd4090" /><Relationship Type="http://schemas.openxmlformats.org/officeDocument/2006/relationships/slide" Target="/ppt/slides/slide3.xml" Id="R461927ba8c16425e" /><Relationship Type="http://schemas.openxmlformats.org/officeDocument/2006/relationships/slide" Target="/ppt/slides/slide4.xml" Id="Rdf56a9b01e38408e" /><Relationship Type="http://schemas.openxmlformats.org/officeDocument/2006/relationships/slide" Target="/ppt/slides/slide5.xml" Id="Rdd4b7199cae34c3e" /><Relationship Type="http://schemas.openxmlformats.org/officeDocument/2006/relationships/slide" Target="/ppt/slides/slide6.xml" Id="Rc23bdeeebbc44dd7" /><Relationship Type="http://schemas.openxmlformats.org/officeDocument/2006/relationships/slide" Target="/ppt/slides/slide7.xml" Id="R583c5a200b7849a8" /><Relationship Type="http://schemas.openxmlformats.org/officeDocument/2006/relationships/slide" Target="/ppt/slides/slide8.xml" Id="Rcef2c5bee6e34acd" /><Relationship Type="http://schemas.openxmlformats.org/officeDocument/2006/relationships/slide" Target="/ppt/slides/slide9.xml" Id="R0004f9815eec49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76865621fe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892ab627b4351" /><Relationship Type="http://schemas.openxmlformats.org/officeDocument/2006/relationships/notesMaster" Target="/ppt/notesMasters/notesMaster1.xml" Id="R4d00154aafdc47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00d1ab214f484f" /><Relationship Type="http://schemas.openxmlformats.org/officeDocument/2006/relationships/notesMaster" Target="/ppt/notesMasters/notesMaster1.xml" Id="R827c3518c36b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a8b867cba94fc2" /><Relationship Type="http://schemas.openxmlformats.org/officeDocument/2006/relationships/notesMaster" Target="/ppt/notesMasters/notesMaster1.xml" Id="R92e1ecf8b517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42895c3c7945d0" /><Relationship Type="http://schemas.openxmlformats.org/officeDocument/2006/relationships/notesMaster" Target="/ppt/notesMasters/notesMaster1.xml" Id="Re6fd40588655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0bc47fac0459e" /><Relationship Type="http://schemas.openxmlformats.org/officeDocument/2006/relationships/notesMaster" Target="/ppt/notesMasters/notesMaster1.xml" Id="R729d71edce3549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42acf3cac4f62" /><Relationship Type="http://schemas.openxmlformats.org/officeDocument/2006/relationships/notesMaster" Target="/ppt/notesMasters/notesMaster1.xml" Id="R20a2998e2ac244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615efd812c48d1" /><Relationship Type="http://schemas.openxmlformats.org/officeDocument/2006/relationships/notesMaster" Target="/ppt/notesMasters/notesMaster1.xml" Id="R91c27c5c86eb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0f74adeb344f3c" /><Relationship Type="http://schemas.openxmlformats.org/officeDocument/2006/relationships/notesMaster" Target="/ppt/notesMasters/notesMaster1.xml" Id="R3edb516d20a044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ece7c41aa4140" /><Relationship Type="http://schemas.openxmlformats.org/officeDocument/2006/relationships/notesMaster" Target="/ppt/notesMasters/notesMaster1.xml" Id="R4c4ea9cc9b65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decision, not the chronology. Approve one bounded AI pilot and one deterministic data prerequisite; do not approve autonomous patient collections.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was and was not covered. These gaps limit generalization but do not block bounded pilots that explicitly gather their own baselines.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blaming staff. Local workarounds are rational responses to missing integration and ownership. The design target is the handoff, not individual productivity.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uncertainty explicit. The projected range defines testable workload; a two-week measured baseline replaces it before benefit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contradiction is a finding, not a nuisance. Do not attach a savings estimate to an incoherent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Enthusiasm is not readiness. The pilot must build policy, ownership, and evaluation muscle alongside the workflow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exposing the same underlying problem through different primitives is justified only when control models differ. Here, automation is deliberately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thresholds, not capability claims. Freeze them before evaluation and keep an immediate disable switch.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decision date. Confirm who owns each answer and when the decision will be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8cd4a9fc2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df0848d76475f" /><Relationship Type="http://schemas.openxmlformats.org/officeDocument/2006/relationships/slideLayout" Target="/ppt/slideLayouts/slideLayout1.xml" Id="Reda7d120f838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7d120f838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ebef1ca3a4a9b" /><Relationship Type="http://schemas.openxmlformats.org/officeDocument/2006/relationships/notesSlide" Target="/ppt/notesSlides/notesSlide1.xml" Id="Rbad2f9662b8d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4d150df2544f5" /><Relationship Type="http://schemas.openxmlformats.org/officeDocument/2006/relationships/notesSlide" Target="/ppt/notesSlides/notesSlide2.xml" Id="Ra68c0478b078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7f2b1f6b240da" /><Relationship Type="http://schemas.openxmlformats.org/officeDocument/2006/relationships/notesSlide" Target="/ppt/notesSlides/notesSlide3.xml" Id="R2cfc9bffcb5e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d8418089f4cde" /><Relationship Type="http://schemas.openxmlformats.org/officeDocument/2006/relationships/notesSlide" Target="/ppt/notesSlides/notesSlide4.xml" Id="Rde43f5459d39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40fa4f6cc484d" /><Relationship Type="http://schemas.openxmlformats.org/officeDocument/2006/relationships/notesSlide" Target="/ppt/notesSlides/notesSlide5.xml" Id="R3565d922a81a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defd9a53343b4" /><Relationship Type="http://schemas.openxmlformats.org/officeDocument/2006/relationships/notesSlide" Target="/ppt/notesSlides/notesSlide6.xml" Id="Rf6f66b754e1345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0474b04d243f8" /><Relationship Type="http://schemas.openxmlformats.org/officeDocument/2006/relationships/notesSlide" Target="/ppt/notesSlides/notesSlide7.xml" Id="Re4f246650e7d44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1eb075a094d79" /><Relationship Type="http://schemas.openxmlformats.org/officeDocument/2006/relationships/notesSlide" Target="/ppt/notesSlides/notesSlide8.xml" Id="R99a7996734324f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f3617d0eb47d4" /><Relationship Type="http://schemas.openxmlformats.org/officeDocument/2006/relationships/notesSlide" Target="/ppt/notesSlides/notesSlide9.xml" Id="Rf555c4903c384a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11AE1-92BF-4418-A7C6-37A685A3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KESTREL HEALTH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988CC-F313-4F8E-BF73-20B25FD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Administrative burden is concentrated in three broken handoffs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32784-2D88-4B41-8057-85CBE17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7D2E5"/>
                </a:solidFill>
                <a:latin typeface="Helvetica Neue"/>
                <a:ea typeface="Helvetica Neue"/>
                <a:cs typeface="Helvetica Neue"/>
              </a:rPr>
              <a:t>Discovery recommendation • Track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9D8F9-B382-4533-B1AF-2A566F47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98F7B-AA59-4D3C-B9DB-69AD531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2F6DA-1CCC-4D67-A026-CD057D20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Referral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B0883-1277-424C-9CA3-A44A5554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9D8C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9B1DC-6A39-44FB-8F4F-E0B5469F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81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AD0A7-9616-4974-A52E-A6AAE9AA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Denial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6AE84-9C8A-4025-9982-E6617B80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9ADEE-95E5-4D75-9F04-FCF764C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9E0AA-EE8F-4B67-BB57-C835EB4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Balance autonomy</a:t>
            </a:r>
          </a:p>
        </p:txBody>
      </p:sp>
    </p:spTree>
    <p:extLst>
      <p:ext uri="{BB962C8B-B14F-4D97-AF65-F5344CB8AC3E}">
        <p14:creationId xmlns:p14="http://schemas.microsoft.com/office/powerpoint/2010/main" val="2114429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6041F-C7AB-44E2-862B-FA64BDB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94864-3743-4336-B6D5-72C47295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evidence supports two pilots and names two blind spots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03B47-E175-470F-B878-6140F0B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9F468-BDBA-452D-AC24-5A4D69F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036AF-E1ED-4EBD-958B-6852BEF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AEDA-58C9-4950-9A4F-772153B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interviews • 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98C61-B5C2-4406-92DB-ACF390A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666875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7A4AD-0F80-44F8-981C-CCA784D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383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rPr>
              <a:t>255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2629D-F667-458F-96AA-E36FBAB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5267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shadowing • measured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2EBAA-EC68-466B-A2B5-102A79F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41F18-DC74-4020-B10B-06609489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383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153 / 473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2C768-62BA-4DDA-ADD7-A30D329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5267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7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survey responses • measured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E4729-5BDA-403F-8E35-DCA03D4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66875"/>
            <a:ext cx="2428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76551-DC5C-4421-AFFC-A749AB6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383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rPr>
              <a:t>13 →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DBA6B-C0A4-4A82-B824-7B6A218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5267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inventoried → mapped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9808C-5D5E-4DB8-A1DF-E4750820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229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508BB-F01C-4A9C-BADD-C06BD30F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Material limitations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8CB3B-DD4E-4F90-AD12-4079E2E9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No Revenue Cycle shadowing</a:t>
            </a:r>
          </a:p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Credentialing was interview-only</a:t>
            </a:r>
          </a:p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Practice Operations survey response: 20% measured</a:t>
            </a:r>
          </a:p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Central scheduling: 70 reported staff, not 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9CEA3-BF5B-49B7-9CF6-D24E90E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Sources: client brief, interviews, shadowing notes, survey summary, workflow inventory.</a:t>
            </a:r>
          </a:p>
        </p:txBody>
      </p:sp>
    </p:spTree>
    <p:extLst>
      <p:ext uri="{BB962C8B-B14F-4D97-AF65-F5344CB8AC3E}">
        <p14:creationId xmlns:p14="http://schemas.microsoft.com/office/powerpoint/2010/main" val="1860764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7ECF2-F846-46AF-B33B-F1D0507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E256F-DBD4-44E5-8B88-9F6E4002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9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Staff bridge disconnected systems with spreadsheets, inboxes, calls, and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39094-637C-43E0-B81C-E9B6B9AC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40A39-6045-4D95-9052-4DE7E56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3095A-A911-418E-862B-64AF0FE7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EA2C4-F260-4879-B6F1-9F61713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Fax • portal • 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5E700-4877-430B-A5D0-55A569C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AC37-F29F-46F4-8FA7-AF2D737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52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C16BF-0B5F-4F46-865C-94A692A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82804-1D0F-4F73-90B2-948E55CA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Personal trackers • lookup 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B0BDE-1B8E-4051-9DEA-5896C7D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241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85F28-B96C-4193-9E3B-82303AE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252E1-DD20-4E61-BA27-CCF8156A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WAIT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E1573-646E-4E67-8C0D-B5B6AE06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Hold queues • missing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471DE-22BE-4554-B768-D02D01CB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31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EC112-BD38-4CAC-BC0D-A59BFF9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9D8C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28B8A-473C-451A-83AC-2556CBB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C3317-F1B9-4101-8055-F450DF4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193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Caregate • SharePoint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B65B3-7631-415A-800F-A035E7F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679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98DBD-7204-4363-9FA8-BB5DF0FF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recurring failure is the handoff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E77E4-5156-45EF-9CE3-8416415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Information is reinterpreted at each boundary, exceptions live in local files, and feedback arrives after the revenue or access problem has already occurred.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826FE-856F-48BE-896B-0AC70CE5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Mapped workflows: WF-O01 prior authorization, WF-O02 referral intake, WF-R02 denials and appeals.</a:t>
            </a:r>
          </a:p>
        </p:txBody>
      </p:sp>
    </p:spTree>
    <p:extLst>
      <p:ext uri="{BB962C8B-B14F-4D97-AF65-F5344CB8AC3E}">
        <p14:creationId xmlns:p14="http://schemas.microsoft.com/office/powerpoint/2010/main" val="1446136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C30D8-4C54-4796-99B5-4B63C1F8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PILOT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99CAE-0B47-4B50-8700-2DDE4A35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Referral intake is the best bounded AI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2817C-62AA-46B2-9A1E-157A7D6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872DC-3376-46ED-A0BE-5F8416F4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FAC8B-830F-401B-9431-3C665AD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3,596 / 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53AFE-104E-49A7-B604-F4B24BA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fax referrals • projected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4E8ED-EF8A-4BEE-844C-3E3F2477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35279-09FB-44F9-9BF6-8F9A2C6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859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rPr>
              <a:t>6.3–8.1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E268C-05D5-4FFA-9CF5-C2CF6B52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handling per fax • projected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41537-9C2E-4AAF-85CD-4F9B260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37814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FD174-7CD7-44E2-987E-566C4F8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3400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377.6–485.5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7BC2E-E867-4F32-A819-1FB442F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400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addressable workload • projected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C0C9B-C37A-4494-AB20-DA853B23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4679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F8B92-B81C-4E69-B44A-A546EAB3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Why this goes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AC223-08B5-4775-A380-42B08C84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RightFax offers a reported one-day API path. Extraction can run read-only, show evidence spans, and route uncertainty to a coordinator. Humans verify critical fields and retain every routing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77DD4-1996-4952-8067-FFFC2F9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rPr>
              <a:t>Not a savings promise: the baseline comes from 10 observed faxes.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FE9C3-5325-476A-AC5A-BFB4A959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Sources: referral interview and 130-minute shadowing session; projected values are derived, not measured enterprise totals.</a:t>
            </a:r>
          </a:p>
        </p:txBody>
      </p:sp>
    </p:spTree>
    <p:extLst>
      <p:ext uri="{BB962C8B-B14F-4D97-AF65-F5344CB8AC3E}">
        <p14:creationId xmlns:p14="http://schemas.microsoft.com/office/powerpoint/2010/main" val="1928801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0BA4C-45A2-441F-9AA4-EC1BA3E3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PREREQUISITE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7DEC9-84ED-4912-A4E8-F857BB4B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Denial leakage cannot improve until the numbers reconcile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B95F6-C880-4FA3-903A-6144753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76306-EC9E-4175-A270-E9A941A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5B496-378E-4B58-BD60-9229B3C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rPr>
              <a:t>5,781 / 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41A15-7A0F-4D2E-BA9E-565E4CDE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first-pass denials • projected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1F8AC-95E6-4C93-9389-CE1192D7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C7AAA-4CC9-4755-8C6E-D793AEA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859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3,100 /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AC26B-A9EC-4F8F-8B3D-F42AAA6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worked denials • measured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53C8F-1B03-4180-BFD4-3B2598A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37814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9E975-9B99-4F86-BFA4-736C9B01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3400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2,681 / 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7C393-7621-498D-A7D8-32256C9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400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difference • projected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FA2BC-583B-4CF3-AE72-A59FE2E7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FD5B9-36AE-4745-82D8-6B2CA607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Build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A66F9-7FEA-4681-88F5-AB17C99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A deterministic table that reconciles claims, reasons, dispositions, appeals, and write-offs.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46EBA-B4A9-42A7-8EE1-4F6CE8B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81375"/>
            <a:ext cx="5238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0E1B6-6F3B-4885-BEC8-A8C9DCC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71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rPr>
              <a:t>Add 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A1488-FA4D-473E-B05D-57A408E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LLM summaries only after shared definitions and monthly totals are trusted.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51E16-351A-4755-82A3-44407BD1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Reported throughput of 15–20 cases/person/day also conflicts with the measured monthly total.</a:t>
            </a:r>
          </a:p>
        </p:txBody>
      </p:sp>
    </p:spTree>
    <p:extLst>
      <p:ext uri="{BB962C8B-B14F-4D97-AF65-F5344CB8AC3E}">
        <p14:creationId xmlns:p14="http://schemas.microsoft.com/office/powerpoint/2010/main" val="911151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BE9FA1-3153-4352-AD58-C4D9BC3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MATURITY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32035-901E-4F29-B96C-BEED1F19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Kestrel is experimenting faster than it is governing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4F9F-67CC-4B21-A3E0-AB67D61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11828-34BD-4714-AD03-B7E88DE4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9189C-3D2F-4226-8F0F-FD8864B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rPr>
              <a:t>2.0 / 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1C4EF-E5BB-4BDE-A3C6-A7952CCE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overall maturity • assessed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C647-D7DC-440D-837C-8573015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145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C0E8E-FA02-46EC-BE6A-2095995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51%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CC0C-478D-436E-B1A5-21FEF4D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use AI for work • measured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35387-5F3C-455E-9B2A-EC2B6F2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464A1-9710-4594-A3B8-D0F6D6F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71%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A36C8-29E2-4276-B687-E2F2405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use personal accounts • measured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CCD16-3857-49C4-83B2-A03EB8A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259DB-0DE1-4B24-A813-74F72AA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41399-B4E9-4D04-A48B-E8CC8894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formally trained • measured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68DFB-65C9-450D-B2EA-3342CD8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Leadership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D397A-09CE-4405-B500-43B7B383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CA634-33F7-4076-9DEC-4933736B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0ABC6-6761-4548-8B4A-4BCD0B59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B10B4-6E7B-409F-8E3C-0E96034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B7215-26DE-4F5F-B68E-10B496E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49C7D-CED5-40DE-9968-D1EAAED5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A980E-63C4-4817-BCAB-C91C547B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31FDF-E80F-433E-86BF-FAE0405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F984D-3A9D-4A7F-A8E7-B7701B3D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486D3-3D41-4C33-86AB-608B0BB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C6FCC-FD3C-4B4D-B2E4-D5830FBA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2.5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2422B-C4F3-4293-A1D4-18AEEFA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05410-27B2-4FD8-9A10-96E0530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95825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112826-C967-48C2-B904-2AF4A0F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95825"/>
            <a:ext cx="2667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DB069-1AAC-4EF3-9B5A-1D7BF7A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57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2.0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2FB1A-1576-4EE2-8D01-79DFC16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FF5B4B-444F-4B3C-B768-198ED65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DB21B-85DF-4BC6-BF73-AE9F7C3E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2000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FF6BF-2D35-453A-93F6-BA3AE47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1.5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F0C98F-E641-4DFB-8A38-1EDA9FB2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D6F7B3-1A30-48FE-AC32-BBE20AE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14975"/>
            <a:ext cx="666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E9F1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B083A1-B7C1-4EA6-9DAD-C83306E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14975"/>
            <a:ext cx="2000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87B00-2887-480E-A03C-80A48038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1.5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6160D8-CFE4-4CE3-AF22-263DCA3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Governance constraint: no AI policy and a reported 6–8 week PHI risk/BAA process.</a:t>
            </a:r>
          </a:p>
        </p:txBody>
      </p:sp>
    </p:spTree>
    <p:extLst>
      <p:ext uri="{BB962C8B-B14F-4D97-AF65-F5344CB8AC3E}">
        <p14:creationId xmlns:p14="http://schemas.microsoft.com/office/powerpoint/2010/main" val="880500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F02A4-C780-4683-8DC5-CC5D16D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0F228-33AE-4BF9-B754-C1617A2A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portfolio favors augmentation and prerequisites over autonomy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E2CB-895D-491A-907F-EB94DCDF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A881-0F66-4B2A-828B-78D9B7E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02F38-3432-4F46-8817-9C3D14B4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 IMPACT / LOWER FEASIBILITY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74B6B-E7F8-444D-9739-1D651B2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 chase digest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Credentialing worklist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BA175-ADD5-46AB-B126-611C9280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52863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9D8C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AFBCB-846E-4C51-9010-FEBE606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38325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 IMPACT / HIGHER FEASIBILITY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C50A-30C2-4B3E-8515-69BDFEA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14575"/>
            <a:ext cx="4905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Referral intake assistant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Denial feedback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DB761-94CA-4693-8322-688C7BBB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51E0A-0F9D-4DCC-A204-7F20EBE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LOWER IMPACT / LOWER FEASIBILITY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BBC91-4E57-4C8D-B213-979E2197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572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Patient-balance autonomous agent — NO 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0F65A-A205-4EBB-AE92-4839B17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5DBC9-7403-4E9E-A535-54A4ED14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F537C-8BBD-4FDA-B1B9-94079A7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48200"/>
            <a:ext cx="4905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Appeal precedent finder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E45CB-F014-4AC8-AA3B-4CA81230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Priority index considers impact, feasibility, effort, and change burden; evidence quality breaks ties.</a:t>
            </a:r>
          </a:p>
        </p:txBody>
      </p:sp>
    </p:spTree>
    <p:extLst>
      <p:ext uri="{BB962C8B-B14F-4D97-AF65-F5344CB8AC3E}">
        <p14:creationId xmlns:p14="http://schemas.microsoft.com/office/powerpoint/2010/main" val="1096112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6E291-85D4-429F-83CB-9CA28DC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PILOT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95AE7-B893-4F7B-A0B8-1F3C165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Two staged pilots make failure visible and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F28A7-F9EA-4DAE-9E36-27FFAE9D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47B3A-CBDD-423A-8260-5A0E8CD9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F67D8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607BD-515D-4B2D-BC68-32FD160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CD640-A2B6-4562-AD88-548D3CD0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96FB1-38A3-4EB0-B8EB-C995126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Synthetic / de-identified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1F9BF-26AD-4485-9DE3-13D175D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622F-CC48-4526-B689-621B847F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207F3-B74D-4E09-A652-0192BD5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18065-18C9-4917-97C3-A63659B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workflow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39CA2-4762-42DF-89B2-00474310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14500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59D8C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BE594-F6A1-4E94-9276-9A109B1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2FC2-FA82-47BB-8D47-57CCEACC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91B16-D53F-4207-AD80-1E0A32D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19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Mandatory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A1C67-C873-4114-B5A1-DFCA915D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21617-375C-4A0E-B4F0-8944909F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573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8183E-E2EA-4854-A3C9-C5E7BE1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8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3482A-0E9C-4E46-8B5B-2D048C0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 signs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07362-58FC-4D23-A842-333B427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679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5D6BA-4A58-488F-A1CD-29DED04C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5D5D"/>
                </a:solidFill>
                <a:latin typeface="Helvetica Neue"/>
                <a:ea typeface="Helvetica Neue"/>
                <a:cs typeface="Helvetica Neue"/>
              </a:rPr>
              <a:t>Release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F339E-D2F3-422B-B4E9-4873901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962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99.5% proposed critical-field precision</a:t>
            </a:r>
          </a:p>
          <a:p xmlns:a="http://schemas.openxmlformats.org/drawingml/2006/main">
            <a:pPr algn="l">
              <a:def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98% proposed review-routing recall</a:t>
            </a:r>
          </a:p>
          <a:p xmlns:a="http://schemas.openxmlformats.org/drawingml/2006/main">
            <a:pPr algn="l">
              <a:def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Zero unapproved PHI transmissions</a:t>
            </a:r>
          </a:p>
          <a:p xmlns:a="http://schemas.openxmlformats.org/drawingml/2006/main">
            <a:pPr algn="l">
              <a:def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• Stop after 2 attributable misroutes in any rolling 30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E1FFA-552C-4CA5-A573-6E8C9AA3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 Caregate write access is required for the first gate.</a:t>
            </a:r>
          </a:p>
        </p:txBody>
      </p:sp>
    </p:spTree>
    <p:extLst>
      <p:ext uri="{BB962C8B-B14F-4D97-AF65-F5344CB8AC3E}">
        <p14:creationId xmlns:p14="http://schemas.microsoft.com/office/powerpoint/2010/main" val="1447761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375AF-A83B-4B35-B017-19D879E3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EXECUTIVE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2C5F-4851-4932-9E1D-70A32DD9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Three named decisions unlock the next six to eight weeks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57E09-A72E-4C63-8AAC-14B20940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41ED3-AC78-4D22-8B72-B11D0294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4679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1DB2E-CFF0-4F57-B71B-6CFB1FE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5E994-1052-4D43-91F0-39729DA3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Approve the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F7254-3CB5-411E-8A15-5CAAF76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6217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Referral extraction + denial reconciliation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9C77B-9919-477A-9B2C-3A23688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4679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B2A4-D708-4F6B-8869-20BBFA7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67D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1D88B-7B04-4FF1-8091-35B2AC2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Name two owners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4BCA8-BA77-45BD-82F5-1E227E15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Practice Operations + Revenue Cycle by 2026-10-16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571E4-A425-40CD-991B-7C40362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4679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3953D-5126-4D56-AA6C-8FB1028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9D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0A4AA-1DA3-45BE-B834-ED4B7DF8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Approve the data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38CEE-C51C-4671-BCED-E68DDF76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449"/>
                </a:solidFill>
                <a:latin typeface="Helvetica Neue"/>
                <a:ea typeface="Helvetica Neue"/>
                <a:cs typeface="Helvetica Neue"/>
              </a:rPr>
              <a:t>BAA-covered AI or deterministic restriction by 2026-12-11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30563-415A-491D-B29C-A490AD7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679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D5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1CC02-1E91-4FC1-A0E9-8CD9F60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Proposed decision date: 2026-10-16</a:t>
            </a:r>
          </a:p>
        </p:txBody>
      </p:sp>
    </p:spTree>
    <p:extLst>
      <p:ext uri="{BB962C8B-B14F-4D97-AF65-F5344CB8AC3E}">
        <p14:creationId xmlns:p14="http://schemas.microsoft.com/office/powerpoint/2010/main" val="283812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2026-10-05T23:31:56.9070000Z</dcterms:created>
  <dcterms:modified xsi:type="dcterms:W3CDTF">2026-10-05T23:31:56.9070000Z</dcterms:modified>
</coreProperties>
</file>